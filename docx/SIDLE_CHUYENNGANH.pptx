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8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Times New Roman Bold" panose="02020803070505020304" pitchFamily="18" charset="0"/>
      <p:bold r:id="rId27"/>
    </p:embeddedFont>
    <p:embeddedFont>
      <p:font typeface="Calibri" panose="020F050202020403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32E68-63E9-432B-9E07-9804484FBF9D}" type="datetimeFigureOut">
              <a:rPr lang="en-AU" smtClean="0"/>
              <a:t>25/12/2025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38616-C378-4DE2-B459-2808A5B8BE01}" type="slidenum">
              <a:rPr lang="en-AU" smtClean="0"/>
              <a:t>‹#›</a:t>
            </a:fld>
            <a:endParaRPr lang="en-AU"/>
          </a:p>
        </p:txBody>
      </p:sp>
    </p:spTree>
    <p:extLst>
      <p:ext uri="{BB962C8B-B14F-4D97-AF65-F5344CB8AC3E}">
        <p14:creationId xmlns:p14="http://schemas.microsoft.com/office/powerpoint/2010/main" val="415345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B35F24-3D3E-49D0-A40D-EEA4E3BBB482}" type="datetime1">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0F407-4175-44CE-8BF6-34650C604B9D}" type="datetime1">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768A88-EF70-405E-BDB4-41082DDF2B40}" type="datetime1">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13ADDA-1A9D-46E5-A378-4AEAB1000FB6}" type="datetime1">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CC10E6-43BD-45C6-BF02-5D5CF9AC0AF5}" type="datetime1">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52B315-559A-489C-A859-5D482B85676D}" type="datetime1">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FDC168-863E-4BDF-851A-3F7B8248D98A}" type="datetime1">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12C558-258C-4568-BAD5-C8FE6E27CBF0}" type="datetime1">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616EB8-CB5A-49D2-9BE2-4EF851274DBC}" type="datetime1">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EE241E-0486-46EB-9051-0C1A24489BD1}" type="datetime1">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53DC5F-4813-48B1-BD1F-A7724AAA1027}" type="datetime1">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209C5-150C-4B77-837A-D4528418D360}" type="datetime1">
              <a:rPr lang="en-US" smtClean="0"/>
              <a:t>12/25/2025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pic>
        <p:nvPicPr>
          <p:cNvPr id="3" name="Picture 2">
            <a:hlinkClick r:id="" action="ppaction://media"/>
          </p:cNvPr>
          <p:cNvPicPr>
            <a:picLocks noChangeAspect="1"/>
          </p:cNvPicPr>
          <p:nvPr>
            <a:videoFile r:link="rId1"/>
            <p:extLst>
              <p:ext uri="{DAA4B4D4-6D71-4841-9C94-3DE7FCFB9230}">
                <p14:media xmlns:p14="http://schemas.microsoft.com/office/powerpoint/2010/main" r:embed="rId2">
                  <p14:trim end="13958.3333"/>
                </p14:media>
              </p:ext>
            </p:extLst>
          </p:nvPr>
        </p:nvPicPr>
        <p:blipFill>
          <a:blip r:embed="rId4"/>
          <a:srcRect t="657" b="657"/>
          <a:stretch>
            <a:fillRect/>
          </a:stretch>
        </p:blipFill>
        <p:spPr>
          <a:xfrm>
            <a:off x="0" y="0"/>
            <a:ext cx="18288000" cy="10287000"/>
          </a:xfrm>
          <a:prstGeom prst="rect">
            <a:avLst/>
          </a:prstGeom>
        </p:spPr>
      </p:pic>
      <p:pic>
        <p:nvPicPr>
          <p:cNvPr id="4" name="Picture 2">
            <a:hlinkClick r:id="" action="ppaction://media"/>
          </p:cNvPr>
          <p:cNvPicPr>
            <a:picLocks noChangeAspect="1"/>
          </p:cNvPicPr>
          <p:nvPr>
            <a:videoFile r:link="rId1"/>
            <p:extLst>
              <p:ext uri="{DAA4B4D4-6D71-4841-9C94-3DE7FCFB9230}">
                <p14:media xmlns:p14="http://schemas.microsoft.com/office/powerpoint/2010/main" r:embed="rId2">
                  <p14:trim end="13958.3333"/>
                </p14:media>
              </p:ext>
            </p:extLst>
          </p:nvPr>
        </p:nvPicPr>
        <p:blipFill>
          <a:blip r:embed="rId4"/>
          <a:srcRect t="657" b="657"/>
          <a:stretch>
            <a:fillRect/>
          </a:stretch>
        </p:blipFill>
        <p:spPr>
          <a:xfrm>
            <a:off x="0" y="0"/>
            <a:ext cx="18288000" cy="10287000"/>
          </a:xfrm>
          <a:prstGeom prst="rect">
            <a:avLst/>
          </a:prstGeom>
        </p:spPr>
      </p:pic>
      <p:sp>
        <p:nvSpPr>
          <p:cNvPr id="5" name="Freeform 4"/>
          <p:cNvSpPr/>
          <p:nvPr/>
        </p:nvSpPr>
        <p:spPr>
          <a:xfrm>
            <a:off x="457200" y="419100"/>
            <a:ext cx="11301259" cy="1921214"/>
          </a:xfrm>
          <a:custGeom>
            <a:avLst/>
            <a:gdLst/>
            <a:ahLst/>
            <a:cxnLst/>
            <a:rect l="l" t="t" r="r" b="b"/>
            <a:pathLst>
              <a:path w="11301259" h="1921214">
                <a:moveTo>
                  <a:pt x="0" y="0"/>
                </a:moveTo>
                <a:lnTo>
                  <a:pt x="11301259" y="0"/>
                </a:lnTo>
                <a:lnTo>
                  <a:pt x="11301259" y="1921214"/>
                </a:lnTo>
                <a:lnTo>
                  <a:pt x="0" y="1921214"/>
                </a:lnTo>
                <a:lnTo>
                  <a:pt x="0" y="0"/>
                </a:lnTo>
                <a:close/>
              </a:path>
            </a:pathLst>
          </a:custGeom>
          <a:blipFill>
            <a:blip r:embed="rId5"/>
            <a:stretch>
              <a:fillRect/>
            </a:stretch>
          </a:blipFill>
        </p:spPr>
      </p:sp>
      <p:sp>
        <p:nvSpPr>
          <p:cNvPr id="6" name="Rectangle 5"/>
          <p:cNvSpPr/>
          <p:nvPr/>
        </p:nvSpPr>
        <p:spPr>
          <a:xfrm>
            <a:off x="3599770" y="2340314"/>
            <a:ext cx="5016117" cy="707886"/>
          </a:xfrm>
          <a:prstGeom prst="rect">
            <a:avLst/>
          </a:prstGeom>
        </p:spPr>
        <p:txBody>
          <a:bodyPr wrap="none">
            <a:spAutoFit/>
          </a:bodyPr>
          <a:lstStyle/>
          <a:p>
            <a:r>
              <a:rPr lang="en-AU" sz="4000" b="1">
                <a:solidFill>
                  <a:schemeClr val="bg1"/>
                </a:solidFill>
                <a:latin typeface="Times New Roman" panose="02020603050405020304" pitchFamily="18" charset="0"/>
                <a:cs typeface="Times New Roman" panose="02020603050405020304" pitchFamily="18" charset="0"/>
              </a:rPr>
              <a:t>Đồ Án Chuyên Ngành</a:t>
            </a:r>
          </a:p>
        </p:txBody>
      </p:sp>
      <p:sp>
        <p:nvSpPr>
          <p:cNvPr id="7" name="Rectangle 6"/>
          <p:cNvSpPr/>
          <p:nvPr/>
        </p:nvSpPr>
        <p:spPr>
          <a:xfrm>
            <a:off x="609600" y="3314700"/>
            <a:ext cx="13258800" cy="1446550"/>
          </a:xfrm>
          <a:prstGeom prst="rect">
            <a:avLst/>
          </a:prstGeom>
        </p:spPr>
        <p:txBody>
          <a:bodyPr wrap="square">
            <a:spAutoFit/>
          </a:bodyPr>
          <a:lstStyle/>
          <a:p>
            <a:r>
              <a:rPr lang="vi-VN" sz="4400" b="1">
                <a:solidFill>
                  <a:schemeClr val="bg1"/>
                </a:solidFill>
                <a:latin typeface="+mj-lt"/>
              </a:rPr>
              <a:t>XÂY DỰNG WEBSITE BÁN </a:t>
            </a:r>
            <a:r>
              <a:rPr lang="vi-VN" sz="4400" b="1">
                <a:solidFill>
                  <a:schemeClr val="bg1"/>
                </a:solidFill>
                <a:latin typeface="+mj-lt"/>
              </a:rPr>
              <a:t>GIÀY </a:t>
            </a:r>
            <a:r>
              <a:rPr lang="vi-VN" sz="4400" b="1" smtClean="0">
                <a:solidFill>
                  <a:schemeClr val="bg1"/>
                </a:solidFill>
                <a:latin typeface="+mj-lt"/>
              </a:rPr>
              <a:t>PHÁT</a:t>
            </a:r>
            <a:r>
              <a:rPr lang="en-AU" sz="4400" b="1" smtClean="0">
                <a:solidFill>
                  <a:schemeClr val="bg1"/>
                </a:solidFill>
                <a:latin typeface="+mj-lt"/>
              </a:rPr>
              <a:t> </a:t>
            </a:r>
            <a:r>
              <a:rPr lang="vi-VN" sz="4400" b="1" smtClean="0">
                <a:solidFill>
                  <a:schemeClr val="bg1"/>
                </a:solidFill>
                <a:latin typeface="+mj-lt"/>
              </a:rPr>
              <a:t>TRIỂN</a:t>
            </a:r>
            <a:endParaRPr lang="vi-VN" sz="4400" b="1">
              <a:solidFill>
                <a:schemeClr val="bg1"/>
              </a:solidFill>
              <a:latin typeface="+mj-lt"/>
            </a:endParaRPr>
          </a:p>
          <a:p>
            <a:pPr algn="ctr"/>
            <a:r>
              <a:rPr lang="vi-VN" sz="4400" b="1">
                <a:solidFill>
                  <a:schemeClr val="bg1"/>
                </a:solidFill>
                <a:latin typeface="+mj-lt"/>
              </a:rPr>
              <a:t> HƯỚNG MÃ NGUỒN MỞ</a:t>
            </a:r>
          </a:p>
        </p:txBody>
      </p:sp>
      <p:sp>
        <p:nvSpPr>
          <p:cNvPr id="8" name="TextBox 7"/>
          <p:cNvSpPr txBox="1"/>
          <p:nvPr/>
        </p:nvSpPr>
        <p:spPr>
          <a:xfrm>
            <a:off x="5936625" y="5891550"/>
            <a:ext cx="9361661" cy="741229"/>
          </a:xfrm>
          <a:prstGeom prst="rect">
            <a:avLst/>
          </a:prstGeom>
        </p:spPr>
        <p:txBody>
          <a:bodyPr lIns="0" tIns="0" rIns="0" bIns="0" rtlCol="0" anchor="t">
            <a:spAutoFit/>
          </a:bodyPr>
          <a:lstStyle/>
          <a:p>
            <a:pPr algn="ctr">
              <a:lnSpc>
                <a:spcPts val="6300"/>
              </a:lnSpc>
              <a:spcBef>
                <a:spcPct val="0"/>
              </a:spcBef>
            </a:pPr>
            <a:r>
              <a:rPr lang="en-US" sz="4500" b="1">
                <a:solidFill>
                  <a:schemeClr val="bg1"/>
                </a:solidFill>
                <a:latin typeface="Times New Roman Bold"/>
                <a:ea typeface="Times New Roman Bold"/>
                <a:cs typeface="Times New Roman Bold"/>
                <a:sym typeface="Times New Roman Bold"/>
              </a:rPr>
              <a:t>Sinh viên thực hiện: Nguyễn Duy Phát</a:t>
            </a:r>
          </a:p>
        </p:txBody>
      </p:sp>
      <p:sp>
        <p:nvSpPr>
          <p:cNvPr id="9" name="TextBox 8"/>
          <p:cNvSpPr txBox="1"/>
          <p:nvPr/>
        </p:nvSpPr>
        <p:spPr>
          <a:xfrm>
            <a:off x="5965654" y="7011233"/>
            <a:ext cx="12129864" cy="741229"/>
          </a:xfrm>
          <a:prstGeom prst="rect">
            <a:avLst/>
          </a:prstGeom>
        </p:spPr>
        <p:txBody>
          <a:bodyPr lIns="0" tIns="0" rIns="0" bIns="0" rtlCol="0" anchor="t">
            <a:spAutoFit/>
          </a:bodyPr>
          <a:lstStyle/>
          <a:p>
            <a:pPr algn="ctr">
              <a:lnSpc>
                <a:spcPts val="6300"/>
              </a:lnSpc>
              <a:spcBef>
                <a:spcPct val="0"/>
              </a:spcBef>
            </a:pPr>
            <a:r>
              <a:rPr lang="en-US" sz="4500" b="1">
                <a:solidFill>
                  <a:schemeClr val="bg1"/>
                </a:solidFill>
                <a:latin typeface="Times New Roman Bold"/>
                <a:ea typeface="Times New Roman Bold"/>
                <a:cs typeface="Times New Roman Bold"/>
                <a:sym typeface="Times New Roman Bold"/>
              </a:rPr>
              <a:t>Giảng viên hướng dẫn: Nguyễn Hoàng Duy Thiện</a:t>
            </a:r>
          </a:p>
        </p:txBody>
      </p:sp>
      <p:sp>
        <p:nvSpPr>
          <p:cNvPr id="10" name="Slide Number Placeholder 18"/>
          <p:cNvSpPr txBox="1">
            <a:spLocks/>
          </p:cNvSpPr>
          <p:nvPr/>
        </p:nvSpPr>
        <p:spPr>
          <a:xfrm>
            <a:off x="15773400" y="95631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smtClean="0">
                <a:solidFill>
                  <a:schemeClr val="bg1"/>
                </a:solidFill>
              </a:rPr>
              <a:t>01</a:t>
            </a:r>
            <a:endParaRPr lang="en-US" sz="3200">
              <a:solidFill>
                <a:schemeClr val="bg1"/>
              </a:solidFill>
            </a:endParaRPr>
          </a:p>
        </p:txBody>
      </p:sp>
    </p:spTree>
    <p:extLst>
      <p:ext uri="{BB962C8B-B14F-4D97-AF65-F5344CB8AC3E}">
        <p14:creationId xmlns:p14="http://schemas.microsoft.com/office/powerpoint/2010/main" val="12861707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100000">
                <p:cTn id="15" fill="hold" display="0">
                  <p:stCondLst>
                    <p:cond delay="indefinite"/>
                  </p:stCondLst>
                </p:cTn>
                <p:tgtEl>
                  <p:spTgt spid="3"/>
                </p:tgtEl>
              </p:cMediaNode>
            </p:video>
            <p:video>
              <p:cMediaNode vol="100000">
                <p:cTn id="16"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Freeform 14"/>
          <p:cNvSpPr/>
          <p:nvPr/>
        </p:nvSpPr>
        <p:spPr>
          <a:xfrm rot="-8790015">
            <a:off x="13659177" y="1000405"/>
            <a:ext cx="4850718" cy="3832067"/>
          </a:xfrm>
          <a:custGeom>
            <a:avLst/>
            <a:gdLst/>
            <a:ahLst/>
            <a:cxnLst/>
            <a:rect l="l" t="t" r="r" b="b"/>
            <a:pathLst>
              <a:path w="4850718" h="3832067">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5" name="Freeform 15"/>
          <p:cNvSpPr/>
          <p:nvPr/>
        </p:nvSpPr>
        <p:spPr>
          <a:xfrm rot="-9030832">
            <a:off x="15892" y="7537322"/>
            <a:ext cx="2923794" cy="2533955"/>
          </a:xfrm>
          <a:custGeom>
            <a:avLst/>
            <a:gdLst/>
            <a:ahLst/>
            <a:cxnLst/>
            <a:rect l="l" t="t" r="r" b="b"/>
            <a:pathLst>
              <a:path w="2923794" h="2533955">
                <a:moveTo>
                  <a:pt x="0" y="0"/>
                </a:moveTo>
                <a:lnTo>
                  <a:pt x="2923794" y="0"/>
                </a:lnTo>
                <a:lnTo>
                  <a:pt x="2923794" y="2533956"/>
                </a:lnTo>
                <a:lnTo>
                  <a:pt x="0" y="25339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
        <p:nvSpPr>
          <p:cNvPr id="29" name="TextBox 4"/>
          <p:cNvSpPr txBox="1"/>
          <p:nvPr/>
        </p:nvSpPr>
        <p:spPr>
          <a:xfrm>
            <a:off x="-136769" y="266700"/>
            <a:ext cx="7021452" cy="940707"/>
          </a:xfrm>
          <a:prstGeom prst="rect">
            <a:avLst/>
          </a:prstGeom>
        </p:spPr>
        <p:txBody>
          <a:bodyPr wrap="square" lIns="0" tIns="0" rIns="0" bIns="0" rtlCol="0" anchor="t">
            <a:spAutoFit/>
          </a:bodyPr>
          <a:lstStyle/>
          <a:p>
            <a:pPr algn="ctr">
              <a:lnSpc>
                <a:spcPts val="7979"/>
              </a:lnSpc>
              <a:spcBef>
                <a:spcPct val="0"/>
              </a:spcBef>
            </a:pPr>
            <a:r>
              <a:rPr lang="en-US" sz="5000" b="1">
                <a:solidFill>
                  <a:schemeClr val="bg1"/>
                </a:solidFill>
                <a:latin typeface="Times New Roman Bold"/>
                <a:ea typeface="Times New Roman Bold"/>
                <a:cs typeface="Times New Roman Bold"/>
                <a:sym typeface="Times New Roman Bold"/>
              </a:rPr>
              <a:t>Tổng quan về đề tài</a:t>
            </a:r>
          </a:p>
        </p:txBody>
      </p:sp>
      <p:sp>
        <p:nvSpPr>
          <p:cNvPr id="30" name="TextBox 5"/>
          <p:cNvSpPr txBox="1"/>
          <p:nvPr/>
        </p:nvSpPr>
        <p:spPr>
          <a:xfrm>
            <a:off x="457200" y="1209221"/>
            <a:ext cx="5410898" cy="658835"/>
          </a:xfrm>
          <a:prstGeom prst="rect">
            <a:avLst/>
          </a:prstGeom>
        </p:spPr>
        <p:txBody>
          <a:bodyPr wrap="square" lIns="0" tIns="0" rIns="0" bIns="0" rtlCol="0" anchor="t">
            <a:spAutoFit/>
          </a:bodyPr>
          <a:lstStyle/>
          <a:p>
            <a:pPr algn="ctr">
              <a:lnSpc>
                <a:spcPts val="5599"/>
              </a:lnSpc>
              <a:spcBef>
                <a:spcPct val="0"/>
              </a:spcBef>
            </a:pPr>
            <a:r>
              <a:rPr lang="en-US" sz="3999" b="1">
                <a:solidFill>
                  <a:schemeClr val="bg1"/>
                </a:solidFill>
                <a:latin typeface="Times New Roman Bold"/>
                <a:ea typeface="Times New Roman Bold"/>
                <a:cs typeface="Times New Roman Bold"/>
                <a:sym typeface="Times New Roman Bold"/>
              </a:rPr>
              <a:t>Lí do chọn đề tài:</a:t>
            </a:r>
          </a:p>
        </p:txBody>
      </p:sp>
      <p:sp>
        <p:nvSpPr>
          <p:cNvPr id="31" name="TextBox 6"/>
          <p:cNvSpPr txBox="1"/>
          <p:nvPr/>
        </p:nvSpPr>
        <p:spPr>
          <a:xfrm>
            <a:off x="3162649" y="1868056"/>
            <a:ext cx="13563600" cy="8919493"/>
          </a:xfrm>
          <a:prstGeom prst="rect">
            <a:avLst/>
          </a:prstGeom>
        </p:spPr>
        <p:txBody>
          <a:bodyPr wrap="square" lIns="0" tIns="0" rIns="0" bIns="0" rtlCol="0" anchor="t">
            <a:spAutoFit/>
          </a:bodyPr>
          <a:lstStyle/>
          <a:p>
            <a:pPr marL="457200" indent="-457200" algn="just">
              <a:lnSpc>
                <a:spcPct val="150000"/>
              </a:lnSpc>
              <a:spcBef>
                <a:spcPct val="0"/>
              </a:spcBef>
              <a:buFont typeface="Arial" panose="020B0604020202020204" pitchFamily="34" charset="0"/>
              <a:buChar char="•"/>
            </a:pPr>
            <a:r>
              <a:rPr lang="en-US" sz="3000">
                <a:solidFill>
                  <a:schemeClr val="bg1"/>
                </a:solidFill>
                <a:latin typeface="Times New Roman"/>
                <a:ea typeface="Times New Roman"/>
                <a:cs typeface="Times New Roman"/>
                <a:sym typeface="Times New Roman"/>
              </a:rPr>
              <a:t>Trong bối cảnh cuộc Cách mạng Công nghiệp lần thứ tư đang diễn ra, công nghệ thông tin ngày càng được sử dụng rộng rãi trong nhiều lĩnh vực, đặc biệt là thương mại điện tử.</a:t>
            </a:r>
          </a:p>
          <a:p>
            <a:pPr marL="457200" indent="-457200" algn="just">
              <a:lnSpc>
                <a:spcPct val="150000"/>
              </a:lnSpc>
              <a:spcBef>
                <a:spcPct val="0"/>
              </a:spcBef>
              <a:buFont typeface="Arial" panose="020B0604020202020204" pitchFamily="34" charset="0"/>
              <a:buChar char="•"/>
            </a:pPr>
            <a:r>
              <a:rPr lang="en-US" sz="3000">
                <a:solidFill>
                  <a:schemeClr val="bg1"/>
                </a:solidFill>
                <a:latin typeface="Times New Roman"/>
                <a:ea typeface="Times New Roman"/>
                <a:cs typeface="Times New Roman"/>
                <a:sym typeface="Times New Roman"/>
              </a:rPr>
              <a:t>Mua sắm trực tuyến đã trở thành xu hướng phổ biến, giúp người tiêu dùng tiết kiệm thời gian và dễ dàng tiếp cận với nhiều loại sản phẩm.</a:t>
            </a:r>
          </a:p>
          <a:p>
            <a:pPr marL="457200" indent="-457200" algn="just">
              <a:lnSpc>
                <a:spcPct val="150000"/>
              </a:lnSpc>
              <a:spcBef>
                <a:spcPct val="0"/>
              </a:spcBef>
              <a:buFont typeface="Arial" panose="020B0604020202020204" pitchFamily="34" charset="0"/>
              <a:buChar char="•"/>
            </a:pPr>
            <a:r>
              <a:rPr lang="en-US" sz="3000">
                <a:solidFill>
                  <a:schemeClr val="bg1"/>
                </a:solidFill>
                <a:latin typeface="Times New Roman"/>
                <a:ea typeface="Times New Roman"/>
                <a:cs typeface="Times New Roman"/>
                <a:sym typeface="Times New Roman"/>
              </a:rPr>
              <a:t>Trong ngành công nghiệp giày dép, việc tạo ra một trang web bán hàng trực tuyến không chỉ giúp các cửa hàng quảng bá sản phẩm mà còn góp phần nâng cao hiệu quả quản lý và mở rộng thị trường.</a:t>
            </a:r>
          </a:p>
          <a:p>
            <a:pPr marL="457200" indent="-457200" algn="just">
              <a:lnSpc>
                <a:spcPct val="150000"/>
              </a:lnSpc>
              <a:spcBef>
                <a:spcPct val="0"/>
              </a:spcBef>
              <a:buFont typeface="Arial" panose="020B0604020202020204" pitchFamily="34" charset="0"/>
              <a:buChar char="•"/>
            </a:pPr>
            <a:r>
              <a:rPr lang="en-US" sz="3000">
                <a:solidFill>
                  <a:schemeClr val="bg1"/>
                </a:solidFill>
                <a:latin typeface="Times New Roman"/>
                <a:ea typeface="Times New Roman"/>
                <a:cs typeface="Times New Roman"/>
                <a:sym typeface="Times New Roman"/>
              </a:rPr>
              <a:t>Do đó, đề tài "Xây dựng một trang web bán giày dép mã nguồn mở" được lựa chọn để nghiên cứu và phát triển một hệ thống bán giày trực tuyến đáp ứng nhu cầu thực tiễn, đồng thời giúp sinh viên áp dụng kiến thức đã học vào quá trình phát triển sản phẩm.</a:t>
            </a:r>
          </a:p>
          <a:p>
            <a:pPr algn="l">
              <a:lnSpc>
                <a:spcPct val="150000"/>
              </a:lnSpc>
              <a:spcBef>
                <a:spcPct val="0"/>
              </a:spcBef>
            </a:pPr>
            <a:endParaRPr lang="en-US" sz="3000">
              <a:solidFill>
                <a:schemeClr val="bg1"/>
              </a:solidFill>
              <a:latin typeface="Times New Roman"/>
              <a:ea typeface="Times New Roman"/>
              <a:cs typeface="Times New Roman"/>
              <a:sym typeface="Times New Roman"/>
            </a:endParaRPr>
          </a:p>
        </p:txBody>
      </p:sp>
      <p:sp>
        <p:nvSpPr>
          <p:cNvPr id="34"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35" name="TextBox 34"/>
          <p:cNvSpPr txBox="1"/>
          <p:nvPr/>
        </p:nvSpPr>
        <p:spPr>
          <a:xfrm>
            <a:off x="17515407" y="9563100"/>
            <a:ext cx="838200" cy="584775"/>
          </a:xfrm>
          <a:prstGeom prst="rect">
            <a:avLst/>
          </a:prstGeom>
          <a:noFill/>
        </p:spPr>
        <p:txBody>
          <a:bodyPr wrap="square" rtlCol="0">
            <a:spAutoFit/>
          </a:bodyPr>
          <a:lstStyle/>
          <a:p>
            <a:r>
              <a:rPr lang="en-AU" sz="3200" smtClean="0">
                <a:solidFill>
                  <a:schemeClr val="bg1"/>
                </a:solidFill>
              </a:rPr>
              <a:t>02</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3" name="Group 3"/>
          <p:cNvGrpSpPr/>
          <p:nvPr/>
        </p:nvGrpSpPr>
        <p:grpSpPr>
          <a:xfrm>
            <a:off x="13639800" y="342900"/>
            <a:ext cx="4495800" cy="442122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44786" r="-44786"/>
              </a:stretch>
            </a:blipFill>
          </p:spPr>
        </p:sp>
      </p:grpSp>
      <p:sp>
        <p:nvSpPr>
          <p:cNvPr id="14" name="TextBox 13"/>
          <p:cNvSpPr txBox="1"/>
          <p:nvPr/>
        </p:nvSpPr>
        <p:spPr>
          <a:xfrm>
            <a:off x="457200" y="342900"/>
            <a:ext cx="76962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Mục tiêu nghiêm cứu</a:t>
            </a:r>
            <a:endParaRPr lang="en-AU" sz="5000" b="1">
              <a:solidFill>
                <a:schemeClr val="bg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838200" y="1204674"/>
            <a:ext cx="12801600" cy="8402300"/>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vi-VN" sz="3000">
                <a:solidFill>
                  <a:schemeClr val="bg1"/>
                </a:solidFill>
                <a:latin typeface="+mj-lt"/>
                <a:cs typeface="Times New Roman" panose="02020603050405020304" pitchFamily="18" charset="0"/>
              </a:rPr>
              <a:t>Mục đích của đề tài là nghiên cứu và xây dựng một website bán giày trực tuyến theo hướng mã nguồn mở, đáp ứng các chức năng cơ bản của một hệ thống thương mại điện </a:t>
            </a:r>
            <a:r>
              <a:rPr lang="vi-VN" sz="3000">
                <a:solidFill>
                  <a:schemeClr val="bg1"/>
                </a:solidFill>
                <a:latin typeface="+mj-lt"/>
                <a:cs typeface="Times New Roman" panose="02020603050405020304" pitchFamily="18" charset="0"/>
              </a:rPr>
              <a:t>tử</a:t>
            </a:r>
            <a:r>
              <a:rPr lang="vi-VN" sz="3000" smtClean="0">
                <a:solidFill>
                  <a:schemeClr val="bg1"/>
                </a:solidFill>
                <a:latin typeface="+mj-lt"/>
                <a:cs typeface="Times New Roman" panose="02020603050405020304" pitchFamily="18" charset="0"/>
              </a:rPr>
              <a:t>.</a:t>
            </a:r>
            <a:endParaRPr lang="en-AU" sz="3000" smtClean="0">
              <a:solidFill>
                <a:schemeClr val="bg1"/>
              </a:solidFill>
              <a:latin typeface="+mj-lt"/>
              <a:cs typeface="Times New Roman" panose="02020603050405020304" pitchFamily="18" charset="0"/>
            </a:endParaRPr>
          </a:p>
          <a:p>
            <a:pPr marL="457200" indent="-457200" algn="just">
              <a:lnSpc>
                <a:spcPct val="150000"/>
              </a:lnSpc>
              <a:buFont typeface="Arial" panose="020B0604020202020204" pitchFamily="34" charset="0"/>
              <a:buChar char="•"/>
            </a:pPr>
            <a:r>
              <a:rPr lang="vi-VN" sz="3000">
                <a:solidFill>
                  <a:schemeClr val="bg1"/>
                </a:solidFill>
                <a:latin typeface="+mj-lt"/>
              </a:rPr>
              <a:t>Thông qua việc thực hiện đề tài, sinh viên vận dụng các kiến thức đã học về lập trình web, đặc biệt là </a:t>
            </a:r>
            <a:r>
              <a:rPr lang="vi-VN" sz="3000" b="1">
                <a:solidFill>
                  <a:schemeClr val="bg1"/>
                </a:solidFill>
                <a:latin typeface="+mj-lt"/>
              </a:rPr>
              <a:t>JavaScript, CSS và thư viện React</a:t>
            </a:r>
            <a:r>
              <a:rPr lang="vi-VN" sz="3000">
                <a:solidFill>
                  <a:schemeClr val="bg1"/>
                </a:solidFill>
                <a:latin typeface="+mj-lt"/>
              </a:rPr>
              <a:t>, kết hợp với môi trường </a:t>
            </a:r>
            <a:r>
              <a:rPr lang="vi-VN" sz="3000" b="1">
                <a:solidFill>
                  <a:schemeClr val="bg1"/>
                </a:solidFill>
                <a:latin typeface="+mj-lt"/>
              </a:rPr>
              <a:t>XAMPP</a:t>
            </a:r>
            <a:r>
              <a:rPr lang="vi-VN" sz="3000">
                <a:solidFill>
                  <a:schemeClr val="bg1"/>
                </a:solidFill>
                <a:latin typeface="+mj-lt"/>
              </a:rPr>
              <a:t> để thiết kế và triển khai hệ thống bán hàng trực tuyến.</a:t>
            </a:r>
          </a:p>
          <a:p>
            <a:pPr marL="457200" indent="-457200" algn="just">
              <a:lnSpc>
                <a:spcPct val="150000"/>
              </a:lnSpc>
              <a:buFont typeface="Arial" panose="020B0604020202020204" pitchFamily="34" charset="0"/>
              <a:buChar char="•"/>
            </a:pPr>
            <a:r>
              <a:rPr lang="vi-VN" sz="3000">
                <a:solidFill>
                  <a:schemeClr val="bg1"/>
                </a:solidFill>
                <a:latin typeface="+mj-lt"/>
              </a:rPr>
              <a:t>Bên cạnh đó, đề tài nhằm giúp sinh viên rèn luyện kỹ năng phân tích yêu cầu, thiết kế hệ thống, xây dựng giao diện người dùng và tổ chức mã nguồn theo hướng dễ mở rộng, dễ bảo </a:t>
            </a:r>
            <a:r>
              <a:rPr lang="vi-VN" sz="3000">
                <a:solidFill>
                  <a:schemeClr val="bg1"/>
                </a:solidFill>
                <a:latin typeface="+mj-lt"/>
              </a:rPr>
              <a:t>trì</a:t>
            </a:r>
            <a:r>
              <a:rPr lang="vi-VN" sz="3000" smtClean="0">
                <a:solidFill>
                  <a:schemeClr val="bg1"/>
                </a:solidFill>
                <a:latin typeface="+mj-lt"/>
              </a:rPr>
              <a:t>.</a:t>
            </a:r>
            <a:endParaRPr lang="en-AU" sz="3000" smtClean="0">
              <a:solidFill>
                <a:schemeClr val="bg1"/>
              </a:solidFill>
              <a:latin typeface="+mj-lt"/>
            </a:endParaRPr>
          </a:p>
          <a:p>
            <a:pPr marL="457200" indent="-457200" algn="just">
              <a:lnSpc>
                <a:spcPct val="150000"/>
              </a:lnSpc>
              <a:buFont typeface="Arial" panose="020B0604020202020204" pitchFamily="34" charset="0"/>
              <a:buChar char="•"/>
            </a:pPr>
            <a:r>
              <a:rPr lang="vi-VN" sz="3000">
                <a:solidFill>
                  <a:schemeClr val="bg1"/>
                </a:solidFill>
                <a:latin typeface="+mj-lt"/>
              </a:rPr>
              <a:t>Kết quả nghiên cứu của đề tài tạo nền tảng cho việc tiếp tục phát triển, nâng cấp hệ thống trong tương lai và có thể áp dụng vào thực tế hoạt động kinh doanh của các cửa hàng bán giày.</a:t>
            </a:r>
            <a:endParaRPr lang="en-AU" sz="3000">
              <a:solidFill>
                <a:schemeClr val="bg1"/>
              </a:solidFill>
              <a:latin typeface="+mj-lt"/>
              <a:cs typeface="Times New Roman" panose="02020603050405020304" pitchFamily="18" charset="0"/>
            </a:endParaRPr>
          </a:p>
        </p:txBody>
      </p:sp>
      <p:sp>
        <p:nvSpPr>
          <p:cNvPr id="17" name="Slide Number Placeholder 16"/>
          <p:cNvSpPr>
            <a:spLocks noGrp="1"/>
          </p:cNvSpPr>
          <p:nvPr>
            <p:ph type="sldNum" sz="quarter" idx="12"/>
          </p:nvPr>
        </p:nvSpPr>
        <p:spPr/>
        <p:txBody>
          <a:bodyPr/>
          <a:lstStyle/>
          <a:p>
            <a:fld id="{B6F15528-21DE-4FAA-801E-634DDDAF4B2B}" type="slidenum">
              <a:rPr lang="en-US" smtClean="0"/>
              <a:pPr/>
              <a:t>3</a:t>
            </a:fld>
            <a:endParaRPr lang="en-US"/>
          </a:p>
        </p:txBody>
      </p:sp>
      <p:sp>
        <p:nvSpPr>
          <p:cNvPr id="18" name="TextBox 17"/>
          <p:cNvSpPr txBox="1"/>
          <p:nvPr/>
        </p:nvSpPr>
        <p:spPr>
          <a:xfrm>
            <a:off x="17304657" y="9486900"/>
            <a:ext cx="990600" cy="584775"/>
          </a:xfrm>
          <a:prstGeom prst="rect">
            <a:avLst/>
          </a:prstGeom>
          <a:noFill/>
        </p:spPr>
        <p:txBody>
          <a:bodyPr wrap="square" rtlCol="0">
            <a:spAutoFit/>
          </a:bodyPr>
          <a:lstStyle/>
          <a:p>
            <a:r>
              <a:rPr lang="en-AU" sz="3200" smtClean="0">
                <a:solidFill>
                  <a:schemeClr val="bg1"/>
                </a:solidFill>
              </a:rPr>
              <a:t>03</a:t>
            </a:r>
            <a:endParaRPr lang="en-AU" sz="2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5" name="Freeform 15"/>
          <p:cNvSpPr/>
          <p:nvPr/>
        </p:nvSpPr>
        <p:spPr>
          <a:xfrm>
            <a:off x="14833600" y="114300"/>
            <a:ext cx="3429000" cy="3657600"/>
          </a:xfrm>
          <a:custGeom>
            <a:avLst/>
            <a:gdLst/>
            <a:ahLst/>
            <a:cxnLst/>
            <a:rect l="l" t="t" r="r" b="b"/>
            <a:pathLst>
              <a:path w="4142416" h="4114800">
                <a:moveTo>
                  <a:pt x="0" y="0"/>
                </a:moveTo>
                <a:lnTo>
                  <a:pt x="4142416" y="0"/>
                </a:lnTo>
                <a:lnTo>
                  <a:pt x="4142416" y="4114800"/>
                </a:lnTo>
                <a:lnTo>
                  <a:pt x="0" y="41148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25" name="TextBox 24"/>
          <p:cNvSpPr txBox="1"/>
          <p:nvPr/>
        </p:nvSpPr>
        <p:spPr>
          <a:xfrm>
            <a:off x="304800" y="342900"/>
            <a:ext cx="89154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Tìm hiểu về JavaScrip</a:t>
            </a:r>
            <a:endParaRPr lang="en-AU" sz="5000" b="1">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990600" y="1409700"/>
            <a:ext cx="13639800" cy="7709803"/>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 JavaScript là ngôn ngữ lập trình được phát triển cho web với độ tương tác cao hơn và dần phổ biến trên nhiều lĩnh vực khác. Nó triển khai các tập lệnh phía máy khách để tương tác với người dùng trên website, tạo được các trang web động, thường được gọi là lập trình hướng đối </a:t>
            </a:r>
            <a:r>
              <a:rPr lang="en-US" sz="3000">
                <a:solidFill>
                  <a:schemeClr val="bg1"/>
                </a:solidFill>
                <a:latin typeface="Times New Roman" panose="02020603050405020304" pitchFamily="18" charset="0"/>
                <a:cs typeface="Times New Roman" panose="02020603050405020304" pitchFamily="18" charset="0"/>
              </a:rPr>
              <a:t>tượng</a:t>
            </a:r>
            <a:r>
              <a:rPr lang="en-US" sz="3000" smtClean="0">
                <a:solidFill>
                  <a:schemeClr val="bg1"/>
                </a:solidFill>
                <a:latin typeface="Times New Roman" panose="02020603050405020304" pitchFamily="18" charset="0"/>
                <a:cs typeface="Times New Roman" panose="02020603050405020304" pitchFamily="18" charset="0"/>
              </a:rPr>
              <a:t>.</a:t>
            </a:r>
          </a:p>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 JavaScript được Netscape giới thiệu với tên ban đầu là LiveScript. Nhưng vào những năm 1990, sự phát triển mạnh mẽ và tác động của Java nên đơn vị này chuyển thành tên JavaScript phổ biến như ngày nay.</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 </a:t>
            </a:r>
            <a:r>
              <a:rPr lang="en-US" sz="3000" smtClean="0">
                <a:solidFill>
                  <a:schemeClr val="bg1"/>
                </a:solidFill>
                <a:latin typeface="Times New Roman" panose="02020603050405020304" pitchFamily="18" charset="0"/>
                <a:cs typeface="Times New Roman" panose="02020603050405020304" pitchFamily="18" charset="0"/>
              </a:rPr>
              <a:t>Hiện </a:t>
            </a:r>
            <a:r>
              <a:rPr lang="en-US" sz="3000">
                <a:solidFill>
                  <a:schemeClr val="bg1"/>
                </a:solidFill>
                <a:latin typeface="Times New Roman" panose="02020603050405020304" pitchFamily="18" charset="0"/>
                <a:cs typeface="Times New Roman" panose="02020603050405020304" pitchFamily="18" charset="0"/>
              </a:rPr>
              <a:t>lập trình với JavaScript đã mở rộng ra trên nhiều lĩnh vực</a:t>
            </a:r>
            <a:r>
              <a:rPr lang="en-US" sz="3000">
                <a:solidFill>
                  <a:schemeClr val="bg1"/>
                </a:solidFill>
                <a:latin typeface="Times New Roman" panose="02020603050405020304" pitchFamily="18" charset="0"/>
                <a:cs typeface="Times New Roman" panose="02020603050405020304" pitchFamily="18" charset="0"/>
              </a:rPr>
              <a:t>, </a:t>
            </a:r>
            <a:r>
              <a:rPr lang="en-US" sz="3000" smtClean="0">
                <a:solidFill>
                  <a:schemeClr val="bg1"/>
                </a:solidFill>
                <a:latin typeface="Times New Roman" panose="02020603050405020304" pitchFamily="18" charset="0"/>
                <a:cs typeface="Times New Roman" panose="02020603050405020304" pitchFamily="18" charset="0"/>
              </a:rPr>
              <a:t>từ </a:t>
            </a:r>
            <a:r>
              <a:rPr lang="en-US" sz="3000">
                <a:solidFill>
                  <a:schemeClr val="bg1"/>
                </a:solidFill>
                <a:latin typeface="Times New Roman" panose="02020603050405020304" pitchFamily="18" charset="0"/>
                <a:cs typeface="Times New Roman" panose="02020603050405020304" pitchFamily="18" charset="0"/>
              </a:rPr>
              <a:t>lập trình máy tính đến lập trình thiết bị của NASA. Kể từ khi Javascript được tạo ra, nền tảng Node.js đã tạo điều kiện thuận lợi cho JavaScript phát triển với nhiều mục đích. Hãy cùng khám phá JavaScript có thể sử dụng để làm được những gì dưới đây nhé.</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29" name="TextBox 28"/>
          <p:cNvSpPr txBox="1"/>
          <p:nvPr/>
        </p:nvSpPr>
        <p:spPr>
          <a:xfrm>
            <a:off x="17297400" y="9486900"/>
            <a:ext cx="1219200" cy="584775"/>
          </a:xfrm>
          <a:prstGeom prst="rect">
            <a:avLst/>
          </a:prstGeom>
          <a:noFill/>
        </p:spPr>
        <p:txBody>
          <a:bodyPr wrap="square" rtlCol="0">
            <a:spAutoFit/>
          </a:bodyPr>
          <a:lstStyle/>
          <a:p>
            <a:r>
              <a:rPr lang="en-AU" sz="3200" smtClean="0">
                <a:solidFill>
                  <a:schemeClr val="bg1"/>
                </a:solidFill>
              </a:rPr>
              <a:t>04</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1" name="TextBox 10"/>
          <p:cNvSpPr txBox="1"/>
          <p:nvPr/>
        </p:nvSpPr>
        <p:spPr>
          <a:xfrm>
            <a:off x="381000" y="571500"/>
            <a:ext cx="83058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Ưu điểm của JavaScrip</a:t>
            </a:r>
            <a:endParaRPr lang="en-AU" sz="5000" b="1">
              <a:solidFill>
                <a:schemeClr val="bg1"/>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676400" y="1714500"/>
            <a:ext cx="15240000" cy="7626831"/>
          </a:xfrm>
          <a:prstGeom prst="rect">
            <a:avLst/>
          </a:prstGeom>
          <a:noFill/>
        </p:spPr>
        <p:txBody>
          <a:bodyPr wrap="square" rtlCol="0">
            <a:spAutoFit/>
          </a:bodyPr>
          <a:lstStyle/>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JavaScript là ngôn ngữ lập trình phổ biến, được hỗ trợ trên hầu hết các trình duyệt web hiện nay, giúp đảm bảo tính tương thích cao.</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Cho phép xây dựng các website có tính tương tác cao, xử lý nhanh các sự kiện phía người dùng, từ đó nâng cao trải nghiệm người dùng.</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Có hệ sinh thái phong phú với nhiều thư viện và framework như React, giúp rút ngắn thời gian phát triển và dễ dàng mở rộng hệ thống.</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JavaScript hỗ trợ phát triển cả phía client và server, tạo điều kiện thuận lợi cho việc xây dựng các ứng dụng web toàn diện.</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Là ngôn ngữ mã nguồn mở, dễ học và có cộng đồng phát triển lớn, thuận tiện cho việc tìm kiếm tài liệu và hỗ trợ.</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17373600" y="9486900"/>
            <a:ext cx="685800" cy="584775"/>
          </a:xfrm>
          <a:prstGeom prst="rect">
            <a:avLst/>
          </a:prstGeom>
          <a:noFill/>
        </p:spPr>
        <p:txBody>
          <a:bodyPr wrap="square" rtlCol="0">
            <a:spAutoFit/>
          </a:bodyPr>
          <a:lstStyle/>
          <a:p>
            <a:r>
              <a:rPr lang="en-AU" sz="3200" smtClean="0">
                <a:solidFill>
                  <a:schemeClr val="bg1"/>
                </a:solidFill>
              </a:rPr>
              <a:t>05</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3" name="TextBox 22"/>
          <p:cNvSpPr txBox="1"/>
          <p:nvPr/>
        </p:nvSpPr>
        <p:spPr>
          <a:xfrm>
            <a:off x="381000" y="647700"/>
            <a:ext cx="106680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Nhược điểm của JavaSCrip</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1524000" y="2171700"/>
            <a:ext cx="16383000" cy="6324808"/>
          </a:xfrm>
          <a:prstGeom prst="rect">
            <a:avLst/>
          </a:prstGeom>
          <a:noFill/>
        </p:spPr>
        <p:txBody>
          <a:bodyPr wrap="square" rtlCol="0">
            <a:spAutoFit/>
          </a:bodyPr>
          <a:lstStyle/>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Do chạy chủ yếu trên trình duyệt, mã JavaScript có thể bị xem và chỉnh sửa, dẫn đến các vấn đề về bảo mật nếu không được xử lý đúng cách.</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Hiệu năng xử lý có thể bị ảnh hưởng khi thực hiện các tác vụ phức tạp hoặc xử lý dữ liệu lớn trên phía client.</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Sự khác biệt giữa các trình duyệt có thể gây ra một số lỗi không mong muốn nếu không kiểm thử kỹ lưỡng.</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JavaScript phụ thuộc nhiều vào trình duyệt và môi trường thực thi, do đó cần kết hợp với các công nghệ khác để xây dựng hệ thống hoàn chỉnh và an toàn.</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17373600" y="9435733"/>
            <a:ext cx="914400" cy="584775"/>
          </a:xfrm>
          <a:prstGeom prst="rect">
            <a:avLst/>
          </a:prstGeom>
          <a:noFill/>
        </p:spPr>
        <p:txBody>
          <a:bodyPr wrap="square" rtlCol="0">
            <a:spAutoFit/>
          </a:bodyPr>
          <a:lstStyle/>
          <a:p>
            <a:r>
              <a:rPr lang="en-AU" sz="3200" smtClean="0">
                <a:solidFill>
                  <a:schemeClr val="bg1"/>
                </a:solidFill>
              </a:rPr>
              <a:t>06</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9" name="TextBox 28"/>
          <p:cNvSpPr txBox="1"/>
          <p:nvPr/>
        </p:nvSpPr>
        <p:spPr>
          <a:xfrm>
            <a:off x="381000" y="692884"/>
            <a:ext cx="67056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Khái niệm ReactJS</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0" name="TextBox 29"/>
          <p:cNvSpPr txBox="1"/>
          <p:nvPr/>
        </p:nvSpPr>
        <p:spPr>
          <a:xfrm>
            <a:off x="1600200" y="2324100"/>
            <a:ext cx="15392400" cy="6241837"/>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ReactJS là một thư viện JavaScript có tính hiệu quả và linh hoạt để xây dựng các thành phần giao diện người dùng (UI) có thể sử dụng lại. ReactJS giúp phân chia các UI phức tạp thành các thành phần nhỏ (được gọi là component). Nó được tạo ra bởi Jordan Walke, một kỹ sư phần mềm tại Facebook. ReactJS ban đầu được phát triển và duy trì bởi Facebook và sau đó được sử dụng trong các sản phẩm của mình như WhatsApp &amp; Instagram.</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 </a:t>
            </a:r>
            <a:r>
              <a:rPr lang="en-US" sz="3000" smtClean="0">
                <a:solidFill>
                  <a:schemeClr val="bg1"/>
                </a:solidFill>
                <a:latin typeface="Times New Roman" panose="02020603050405020304" pitchFamily="18" charset="0"/>
                <a:cs typeface="Times New Roman" panose="02020603050405020304" pitchFamily="18" charset="0"/>
              </a:rPr>
              <a:t>ReactJS </a:t>
            </a:r>
            <a:r>
              <a:rPr lang="en-US" sz="3000">
                <a:solidFill>
                  <a:schemeClr val="bg1"/>
                </a:solidFill>
                <a:latin typeface="Times New Roman" panose="02020603050405020304" pitchFamily="18" charset="0"/>
                <a:cs typeface="Times New Roman" panose="02020603050405020304" pitchFamily="18" charset="0"/>
              </a:rPr>
              <a:t>được dùng để xây dựng các ứng dụng [single page application] (SPA). Một trong những điểm hấp dẫn của ReacJS là nó không chỉ được xây dựng bên phía clients mà còn sử dụng được bên phía server .</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17297400" y="9486900"/>
            <a:ext cx="1066800" cy="584775"/>
          </a:xfrm>
          <a:prstGeom prst="rect">
            <a:avLst/>
          </a:prstGeom>
          <a:noFill/>
        </p:spPr>
        <p:txBody>
          <a:bodyPr wrap="square" rtlCol="0">
            <a:spAutoFit/>
          </a:bodyPr>
          <a:lstStyle/>
          <a:p>
            <a:r>
              <a:rPr lang="en-AU" sz="3200" smtClean="0">
                <a:solidFill>
                  <a:schemeClr val="bg1"/>
                </a:solidFill>
              </a:rPr>
              <a:t>07</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2" name="TextBox 11"/>
          <p:cNvSpPr txBox="1"/>
          <p:nvPr/>
        </p:nvSpPr>
        <p:spPr>
          <a:xfrm>
            <a:off x="457200" y="266700"/>
            <a:ext cx="75438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Ưu  điểm của ReactJS</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524000" y="1082308"/>
            <a:ext cx="16535400" cy="970432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Hiệu suất cao nhờ Virtual DOM: Virtual DOM giúp React cập nhật giao diện một cách tối ưu mà không cần thao tác trực tiếp lên DOM thực, làm tăng tốc độ và hiệu suất.</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Tái sử dụng các Component: Component là các khối giao diện có thể tái sử dụng, giúp giảm công sức phát triển và bảo trì mã nguồn.</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Hỗ trợ mạnh mẽ từ cộng đồng: ReactJS có một cộng đồng lớn, thư viện và công cụ phong phú, giúp giải quyết nhiều vấn đề phức tạp.</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Khả năng kết hợp với các công cụ khác: ReactJS có thể tích hợp với các công cụ như Redux, React Router, và các thư viện bên ngoài để tăng cường chức năng.</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Dễ học và sử dụng: ReactJS sử dụng cú pháp JSX (JavaScript XML), giúp nhà phát triển dễ dàng viết và hiểu mã nguồn.</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SEO Friendly: với sự hỗ trợ từ ReactDOMServer hoặc Next.js, React có thể render phía server (Server-Side Rendering - SSR), cải thiện SEO.</a:t>
            </a:r>
            <a:endParaRPr lang="en-AU" sz="3000" smtClean="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Tính mô-đun hóa cao: react giúp tổ chức code theo từng module, dễ dàng quản lý và mở rộng.</a:t>
            </a:r>
            <a:endParaRPr lang="en-AU" sz="3000" smtClean="0">
              <a:solidFill>
                <a:schemeClr val="bg1"/>
              </a:solidFill>
              <a:latin typeface="Times New Roman" panose="02020603050405020304" pitchFamily="18" charset="0"/>
              <a:cs typeface="Times New Roman" panose="02020603050405020304" pitchFamily="18" charset="0"/>
            </a:endParaRPr>
          </a:p>
          <a:p>
            <a:pPr>
              <a:lnSpc>
                <a:spcPct val="150000"/>
              </a:lnSpc>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7449800" y="9563100"/>
            <a:ext cx="990600" cy="584775"/>
          </a:xfrm>
          <a:prstGeom prst="rect">
            <a:avLst/>
          </a:prstGeom>
          <a:noFill/>
        </p:spPr>
        <p:txBody>
          <a:bodyPr wrap="square" rtlCol="0">
            <a:spAutoFit/>
          </a:bodyPr>
          <a:lstStyle/>
          <a:p>
            <a:r>
              <a:rPr lang="en-AU" sz="3200" smtClean="0">
                <a:solidFill>
                  <a:schemeClr val="bg1"/>
                </a:solidFill>
              </a:rPr>
              <a:t>08</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2" name="TextBox 11"/>
          <p:cNvSpPr txBox="1"/>
          <p:nvPr/>
        </p:nvSpPr>
        <p:spPr>
          <a:xfrm>
            <a:off x="304800" y="419100"/>
            <a:ext cx="94488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Nhược điểm của ReactJS</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524000" y="1562100"/>
            <a:ext cx="16154400" cy="7709803"/>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Chỉ là thư viện UI: React chỉ tập trung vào giao diện người dùng, không phải framework toàn diện. Nhà phát triển phải kết hợp thêm các công cụ khác để quản lý state (như Redux) hoặc xử lý API.</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Học </a:t>
            </a:r>
            <a:r>
              <a:rPr lang="en-US" sz="3000">
                <a:solidFill>
                  <a:schemeClr val="bg1"/>
                </a:solidFill>
                <a:latin typeface="Times New Roman" panose="02020603050405020304" pitchFamily="18" charset="0"/>
                <a:cs typeface="Times New Roman" panose="02020603050405020304" pitchFamily="18" charset="0"/>
              </a:rPr>
              <a:t>tập phức tạp cho người mới: ReactJS yêu cầu hiểu biết về JavaScript hiện đại (ES6+) và các khái niệm như props, state, lifecycle, hooks, v.v., có thể khó khăn cho người mới.</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Cập </a:t>
            </a:r>
            <a:r>
              <a:rPr lang="en-US" sz="3000">
                <a:solidFill>
                  <a:schemeClr val="bg1"/>
                </a:solidFill>
                <a:latin typeface="Times New Roman" panose="02020603050405020304" pitchFamily="18" charset="0"/>
                <a:cs typeface="Times New Roman" panose="02020603050405020304" pitchFamily="18" charset="0"/>
              </a:rPr>
              <a:t>nhật thường xuyên: React liên tục thay đổi và cập nhật, khiến việc theo kịp các phiên bản mới và áp dụng các tính năng mới trở nên khó khăn.</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JSX </a:t>
            </a:r>
            <a:r>
              <a:rPr lang="en-US" sz="3000">
                <a:solidFill>
                  <a:schemeClr val="bg1"/>
                </a:solidFill>
                <a:latin typeface="Times New Roman" panose="02020603050405020304" pitchFamily="18" charset="0"/>
                <a:cs typeface="Times New Roman" panose="02020603050405020304" pitchFamily="18" charset="0"/>
              </a:rPr>
              <a:t>không quen thuộc: JSX có thể khiến người mới cảm thấy khó khăn vì nó kết hợp cả JavaScript và HTML trong cùng một file.</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Quản </a:t>
            </a:r>
            <a:r>
              <a:rPr lang="en-US" sz="3000">
                <a:solidFill>
                  <a:schemeClr val="bg1"/>
                </a:solidFill>
                <a:latin typeface="Times New Roman" panose="02020603050405020304" pitchFamily="18" charset="0"/>
                <a:cs typeface="Times New Roman" panose="02020603050405020304" pitchFamily="18" charset="0"/>
              </a:rPr>
              <a:t>lý state phức tạp: dù React có nhiều thư viện quản lý state (như Redux, Context API), nhưng việc lựa chọn và triển khai đôi khi khiến ứng dụng trở nên phức tạp.</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7373600" y="9410700"/>
            <a:ext cx="609600" cy="584775"/>
          </a:xfrm>
          <a:prstGeom prst="rect">
            <a:avLst/>
          </a:prstGeom>
          <a:noFill/>
        </p:spPr>
        <p:txBody>
          <a:bodyPr wrap="square" rtlCol="0">
            <a:spAutoFit/>
          </a:bodyPr>
          <a:lstStyle/>
          <a:p>
            <a:r>
              <a:rPr lang="en-AU" sz="3200" smtClean="0">
                <a:solidFill>
                  <a:schemeClr val="bg1"/>
                </a:solidFill>
              </a:rPr>
              <a:t>09</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7" name="TextBox 16"/>
          <p:cNvSpPr txBox="1"/>
          <p:nvPr/>
        </p:nvSpPr>
        <p:spPr>
          <a:xfrm>
            <a:off x="533400" y="419100"/>
            <a:ext cx="61722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Khái niệm MySQL</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1143000" y="1409700"/>
            <a:ext cx="16459200" cy="770980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MySQL là một hệ quản trị cơ sở dữ liệu quan hệ (Relational Database Management System – RDBMS) mã nguồn mở, được sử dụng rộng rãi để lưu trữ, quản lý và truy xuất dữ liệu. MySQL hoàn toàn miễn phí nằm trong nhóm LAMP (Linux – Apache – MySQL – PHP).</a:t>
            </a:r>
            <a:endParaRPr lang="en-AU" sz="300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Vì </a:t>
            </a:r>
            <a:r>
              <a:rPr lang="en-US" sz="3000">
                <a:solidFill>
                  <a:schemeClr val="bg1"/>
                </a:solidFill>
                <a:latin typeface="Times New Roman" panose="02020603050405020304" pitchFamily="18" charset="0"/>
                <a:cs typeface="Times New Roman" panose="02020603050405020304" pitchFamily="18" charset="0"/>
              </a:rPr>
              <a:t>hệ quản trị cơ sở dữ liệu MySQL ổn định và dễ sử dụng, có tính khả chuyển, hoạt động trên nhiều hệ điều hành cung cấp một hệ thống lớn các hàm tiện ích rất mạnh và Mysql cũng có cùng một cách truy xuất và mã lệnh tương tự với ngôn ngữ SQL chính vì thế nên MySQL được sử dụng và hỗ trợ của những lập trình viên yêu thích mã nguồn mở.</a:t>
            </a:r>
            <a:endParaRPr lang="en-AU" sz="300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Nhưng </a:t>
            </a:r>
            <a:r>
              <a:rPr lang="en-US" sz="3000">
                <a:solidFill>
                  <a:schemeClr val="bg1"/>
                </a:solidFill>
                <a:latin typeface="Times New Roman" panose="02020603050405020304" pitchFamily="18" charset="0"/>
                <a:cs typeface="Times New Roman" panose="02020603050405020304" pitchFamily="18" charset="0"/>
              </a:rPr>
              <a:t>MySQL không bao quát toàn bộ những câu truy vấn cao cấp như SQL Server. Vì vậy MySQL chỉ đáp ứng việc truy xuất đơn giản trong quá trình vận hành của website, thích hợp cho các ứng dụng có truy cập CSDL trên internet và có thể giải quyết hầu hết các bài toán trong PHP, Perl.</a:t>
            </a:r>
            <a:endParaRPr lang="en-AU" sz="300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21" name="TextBox 20"/>
          <p:cNvSpPr txBox="1"/>
          <p:nvPr/>
        </p:nvSpPr>
        <p:spPr>
          <a:xfrm>
            <a:off x="17449800" y="9487803"/>
            <a:ext cx="609600" cy="584775"/>
          </a:xfrm>
          <a:prstGeom prst="rect">
            <a:avLst/>
          </a:prstGeom>
          <a:noFill/>
        </p:spPr>
        <p:txBody>
          <a:bodyPr wrap="square" rtlCol="0">
            <a:spAutoFit/>
          </a:bodyPr>
          <a:lstStyle/>
          <a:p>
            <a:r>
              <a:rPr lang="en-AU" sz="3200" smtClean="0">
                <a:solidFill>
                  <a:schemeClr val="bg1"/>
                </a:solidFill>
              </a:rPr>
              <a:t>10</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381000" y="419100"/>
            <a:ext cx="95250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Ưu </a:t>
            </a:r>
            <a:r>
              <a:rPr lang="en-US" sz="5000" b="1">
                <a:solidFill>
                  <a:schemeClr val="bg1"/>
                </a:solidFill>
                <a:latin typeface="Times New Roman" panose="02020603050405020304" pitchFamily="18" charset="0"/>
                <a:cs typeface="Times New Roman" panose="02020603050405020304" pitchFamily="18" charset="0"/>
              </a:rPr>
              <a:t>điểm </a:t>
            </a:r>
            <a:r>
              <a:rPr lang="en-US" sz="5000" b="1" smtClean="0">
                <a:solidFill>
                  <a:schemeClr val="bg1"/>
                </a:solidFill>
                <a:latin typeface="Times New Roman" panose="02020603050405020304" pitchFamily="18" charset="0"/>
                <a:cs typeface="Times New Roman" panose="02020603050405020304" pitchFamily="18" charset="0"/>
              </a:rPr>
              <a:t>của MySQL</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447800" y="1638300"/>
            <a:ext cx="16154400" cy="7478970"/>
          </a:xfrm>
          <a:prstGeom prst="rect">
            <a:avLst/>
          </a:prstGeom>
          <a:noFill/>
        </p:spPr>
        <p:txBody>
          <a:bodyPr wrap="square" rtlCol="0">
            <a:spAutoFit/>
          </a:bodyPr>
          <a:lstStyle/>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MySQL là hệ quản trị cơ sở dữ liệu mã nguồn mở phổ biến, có hiệu năng cao và được sử dụng rộng rãi trong các ứng dụng web.</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Hỗ trợ đầy đủ các chuẩn SQL, giúp việc truy vấn, quản lý và thao tác dữ liệu trở nên linh hoạt và hiệu quả.</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Khả năng xử lý tốt với lượng dữ liệu lớn, phù hợp cho các hệ thống website bán hàng và thương mại điện tử.</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Dễ cài đặt, cấu hình và sử dụng, đặc biệt khi tích hợp trong các gói môi trường máy chủ như </a:t>
            </a:r>
            <a:r>
              <a:rPr lang="en-US" sz="3000">
                <a:solidFill>
                  <a:schemeClr val="bg1"/>
                </a:solidFill>
                <a:latin typeface="Times New Roman" panose="02020603050405020304" pitchFamily="18" charset="0"/>
                <a:cs typeface="Times New Roman" panose="02020603050405020304" pitchFamily="18" charset="0"/>
              </a:rPr>
              <a:t>XAMPP</a:t>
            </a:r>
            <a:r>
              <a:rPr lang="en-US" sz="3000" smtClean="0">
                <a:solidFill>
                  <a:schemeClr val="bg1"/>
                </a:solidFill>
                <a:latin typeface="Times New Roman" panose="02020603050405020304" pitchFamily="18" charset="0"/>
                <a:cs typeface="Times New Roman" panose="02020603050405020304" pitchFamily="18" charset="0"/>
              </a:rPr>
              <a:t>.</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Có cộng đồng người dùng lớn và tài liệu phong phú, thuận lợi cho việc học tập, nghiên cứu và khắc phục sự cố.</a:t>
            </a:r>
            <a:endParaRPr lang="en-AU" sz="3000">
              <a:solidFill>
                <a:schemeClr val="bg1"/>
              </a:solidFill>
              <a:latin typeface="Times New Roman" panose="02020603050405020304" pitchFamily="18" charset="0"/>
              <a:cs typeface="Times New Roman" panose="02020603050405020304" pitchFamily="18" charset="0"/>
            </a:endParaRPr>
          </a:p>
          <a:p>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7373600" y="9410700"/>
            <a:ext cx="685800" cy="584775"/>
          </a:xfrm>
          <a:prstGeom prst="rect">
            <a:avLst/>
          </a:prstGeom>
          <a:noFill/>
        </p:spPr>
        <p:txBody>
          <a:bodyPr wrap="square" rtlCol="0">
            <a:spAutoFit/>
          </a:bodyPr>
          <a:lstStyle/>
          <a:p>
            <a:r>
              <a:rPr lang="en-AU" sz="3200" smtClean="0">
                <a:solidFill>
                  <a:schemeClr val="bg1"/>
                </a:solidFill>
              </a:rPr>
              <a:t>11</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457200" y="769084"/>
            <a:ext cx="73914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Nhược </a:t>
            </a:r>
            <a:r>
              <a:rPr lang="en-US" sz="5000" b="1">
                <a:solidFill>
                  <a:schemeClr val="bg1"/>
                </a:solidFill>
                <a:latin typeface="Times New Roman" panose="02020603050405020304" pitchFamily="18" charset="0"/>
                <a:cs typeface="Times New Roman" panose="02020603050405020304" pitchFamily="18" charset="0"/>
              </a:rPr>
              <a:t>điểm </a:t>
            </a:r>
            <a:r>
              <a:rPr lang="en-US" sz="5000" b="1" smtClean="0">
                <a:solidFill>
                  <a:schemeClr val="bg1"/>
                </a:solidFill>
                <a:latin typeface="Times New Roman" panose="02020603050405020304" pitchFamily="18" charset="0"/>
                <a:cs typeface="Times New Roman" panose="02020603050405020304" pitchFamily="18" charset="0"/>
              </a:rPr>
              <a:t>của MySQL</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828800" y="2400300"/>
            <a:ext cx="15468600" cy="4708981"/>
          </a:xfrm>
          <a:prstGeom prst="rect">
            <a:avLst/>
          </a:prstGeom>
          <a:noFill/>
        </p:spPr>
        <p:txBody>
          <a:bodyPr wrap="square" rtlCol="0">
            <a:spAutoFit/>
          </a:bodyPr>
          <a:lstStyle/>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Khả năng mở rộng và xử lý các giao dịch phức tạp còn hạn chế so với một số hệ quản trị cơ sở dữ liệu khác như PostgreSQL hoặc Oracle.</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Một số tính năng nâng cao chỉ được hỗ trợ đầy đủ trong các phiên bản thương mại.</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Việc tối ưu hóa hiệu năng đối với các hệ thống rất lớn đòi hỏi người quản trị phải có kinh nghiệm.</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Chưa thực sự mạnh trong việc xử lý các truy vấn phức tạp và phân tích dữ liệu chuyên sâu.</a:t>
            </a:r>
            <a:endParaRPr lang="en-AU" sz="3000">
              <a:solidFill>
                <a:schemeClr val="bg1"/>
              </a:solidFill>
              <a:latin typeface="Times New Roman" panose="02020603050405020304" pitchFamily="18" charset="0"/>
              <a:cs typeface="Times New Roman" panose="02020603050405020304" pitchFamily="18" charset="0"/>
            </a:endParaRPr>
          </a:p>
          <a:p>
            <a:endParaRPr lang="en-AU" sz="300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endParaRPr lang="en-US"/>
          </a:p>
        </p:txBody>
      </p:sp>
      <p:sp>
        <p:nvSpPr>
          <p:cNvPr id="6" name="TextBox 5"/>
          <p:cNvSpPr txBox="1"/>
          <p:nvPr/>
        </p:nvSpPr>
        <p:spPr>
          <a:xfrm>
            <a:off x="17449800" y="9410700"/>
            <a:ext cx="609600" cy="584775"/>
          </a:xfrm>
          <a:prstGeom prst="rect">
            <a:avLst/>
          </a:prstGeom>
          <a:noFill/>
        </p:spPr>
        <p:txBody>
          <a:bodyPr wrap="square" rtlCol="0">
            <a:spAutoFit/>
          </a:bodyPr>
          <a:lstStyle/>
          <a:p>
            <a:r>
              <a:rPr lang="en-AU" sz="3200" smtClean="0">
                <a:solidFill>
                  <a:schemeClr val="bg1"/>
                </a:solidFill>
              </a:rPr>
              <a:t>12</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457200" y="419100"/>
            <a:ext cx="56388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Khái niệm XAMPP</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295400" y="1485900"/>
            <a:ext cx="16002000" cy="6786473"/>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XAMPP là cụm từ viết tắt trong đó X là viết tắt của Cross-Platform, A là viết tắt của Apache, M là viết tắt của MYSQL và PP là viết tắt của PHP và Perl. Nó là một gói giải pháp web mã nguồn mở bao gồm các bản phân phối Apache và các tệp thực thi dòng lệnh cho nhiều máy chủ, bao gồm các module như Apache server, MariaDB, PHP, và Perl.</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000" smtClean="0">
                <a:solidFill>
                  <a:schemeClr val="bg1"/>
                </a:solidFill>
                <a:latin typeface="Times New Roman" panose="02020603050405020304" pitchFamily="18" charset="0"/>
                <a:cs typeface="Times New Roman" panose="02020603050405020304" pitchFamily="18" charset="0"/>
              </a:rPr>
              <a:t>XAMPP </a:t>
            </a:r>
            <a:r>
              <a:rPr lang="en-US" sz="3000">
                <a:solidFill>
                  <a:schemeClr val="bg1"/>
                </a:solidFill>
                <a:latin typeface="Times New Roman" panose="02020603050405020304" pitchFamily="18" charset="0"/>
                <a:cs typeface="Times New Roman" panose="02020603050405020304" pitchFamily="18" charset="0"/>
              </a:rPr>
              <a:t>giúp localhost hoặc máy chủ kiểm tra các trang web trên máy tính và máy tính  xách tay trước khi xuất bản lên hosting. Đây là một nền tảng cung cấp môi trường phù hợp để kiểm tra và giám sát hoạt động của các dự án dựa trên Apache, Perl, MySQL database và PHP thông qua hệ thống được lưu trữ riêng. Trong sốcác công nghệ này, Perl là ngôn ngữ lập trình lĩnh vực quản trị hệ thống, PHP là back-end website và MariaDB là cơ sở dữ liệu được sử dụng để phát triển MySQL.</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5925800" y="9563100"/>
            <a:ext cx="2133600" cy="365125"/>
          </a:xfrm>
        </p:spPr>
        <p:txBody>
          <a:bodyPr/>
          <a:lstStyle/>
          <a:p>
            <a:fld id="{B6F15528-21DE-4FAA-801E-634DDDAF4B2B}" type="slidenum">
              <a:rPr lang="en-US" sz="3200" smtClean="0">
                <a:solidFill>
                  <a:schemeClr val="bg1"/>
                </a:solidFill>
              </a:rPr>
              <a:pPr/>
              <a:t>13</a:t>
            </a:fld>
            <a:endParaRPr lang="en-US"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533400" y="419100"/>
            <a:ext cx="62484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Ưu </a:t>
            </a:r>
            <a:r>
              <a:rPr lang="en-US" sz="5000" b="1">
                <a:solidFill>
                  <a:schemeClr val="bg1"/>
                </a:solidFill>
                <a:latin typeface="Times New Roman" panose="02020603050405020304" pitchFamily="18" charset="0"/>
                <a:cs typeface="Times New Roman" panose="02020603050405020304" pitchFamily="18" charset="0"/>
              </a:rPr>
              <a:t>điểm </a:t>
            </a:r>
            <a:r>
              <a:rPr lang="en-US" sz="5000" b="1" smtClean="0">
                <a:solidFill>
                  <a:schemeClr val="bg1"/>
                </a:solidFill>
                <a:latin typeface="Times New Roman" panose="02020603050405020304" pitchFamily="18" charset="0"/>
                <a:cs typeface="Times New Roman" panose="02020603050405020304" pitchFamily="18" charset="0"/>
              </a:rPr>
              <a:t>của XAMPP</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219200" y="1485900"/>
            <a:ext cx="16306800" cy="8402300"/>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XAMPP là bộ công cụ mã nguồn mở, cung cấp môi trường máy chủ cục bộ tích hợp sẵn Apache, MySQL (MariaDB), PHP và Perl, giúp việc phát triển và kiểm thử ứng dụng web trở nên nhanh chóng và thuận tiện.</a:t>
            </a:r>
            <a:endParaRPr lang="en-AU" sz="3000">
              <a:solidFill>
                <a:schemeClr val="bg1"/>
              </a:solidFill>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Quá trình cài đặt và cấu hình đơn giản, phù hợp cho sinh viên và người mới bắt đầu nghiên cứu lập trình web.</a:t>
            </a:r>
            <a:endParaRPr lang="en-AU" sz="3000">
              <a:solidFill>
                <a:schemeClr val="bg1"/>
              </a:solidFill>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Hỗ trợ đa nền tảng như Windows, Linux và macOS, giúp dễ dàng triển khai trên nhiều hệ điều hành khác nhau.</a:t>
            </a:r>
            <a:endParaRPr lang="en-AU" sz="3000">
              <a:solidFill>
                <a:schemeClr val="bg1"/>
              </a:solidFill>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Tạo điều kiện thuận lợi cho việc phát triển, kiểm thử và chạy thử website trước khi triển khai lên máy chủ thực tế.</a:t>
            </a:r>
            <a:endParaRPr lang="en-AU" sz="3000">
              <a:solidFill>
                <a:schemeClr val="bg1"/>
              </a:solidFill>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Có cộng đồng người dùng lớn và nhiều tài liệu hướng dẫn, hỗ trợ tốt cho quá trình học tập và nghiên cứu.</a:t>
            </a:r>
            <a:endParaRPr lang="en-AU" sz="300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5849600" y="9557546"/>
            <a:ext cx="2133600" cy="365125"/>
          </a:xfrm>
        </p:spPr>
        <p:txBody>
          <a:bodyPr/>
          <a:lstStyle/>
          <a:p>
            <a:fld id="{B6F15528-21DE-4FAA-801E-634DDDAF4B2B}" type="slidenum">
              <a:rPr lang="en-US" sz="3200" smtClean="0">
                <a:solidFill>
                  <a:schemeClr val="bg1"/>
                </a:solidFill>
              </a:rPr>
              <a:pPr/>
              <a:t>14</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381000" y="647700"/>
            <a:ext cx="72390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Nhược </a:t>
            </a:r>
            <a:r>
              <a:rPr lang="en-US" sz="5000" b="1">
                <a:solidFill>
                  <a:schemeClr val="bg1"/>
                </a:solidFill>
                <a:latin typeface="Times New Roman" panose="02020603050405020304" pitchFamily="18" charset="0"/>
                <a:cs typeface="Times New Roman" panose="02020603050405020304" pitchFamily="18" charset="0"/>
              </a:rPr>
              <a:t>điểm </a:t>
            </a:r>
            <a:r>
              <a:rPr lang="en-US" sz="5000" b="1" smtClean="0">
                <a:solidFill>
                  <a:schemeClr val="bg1"/>
                </a:solidFill>
                <a:latin typeface="Times New Roman" panose="02020603050405020304" pitchFamily="18" charset="0"/>
                <a:cs typeface="Times New Roman" panose="02020603050405020304" pitchFamily="18" charset="0"/>
              </a:rPr>
              <a:t>của XAMPP</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828800" y="2095500"/>
            <a:ext cx="16154400" cy="5632311"/>
          </a:xfrm>
          <a:prstGeom prst="rect">
            <a:avLst/>
          </a:prstGeom>
          <a:noFill/>
        </p:spPr>
        <p:txBody>
          <a:bodyPr wrap="square" rtlCol="0">
            <a:spAutoFit/>
          </a:bodyPr>
          <a:lstStyle/>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XAMPP chủ yếu được thiết kế cho mục đích phát triển và học tập, không phù hợp để triển khai trực tiếp trong môi trường sản xuất (production).</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Các cấu hình mặc định của XAMPP chưa được tối ưu về bảo mật, do đó có thể tiềm ẩn rủi ro nếu sử dụng không đúng cách.</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Hiệu năng xử lý không cao bằng các máy chủ chuyên dụng khi hệ thống có lượng truy cập lớn.</a:t>
            </a:r>
            <a:endParaRPr lang="en-AU" sz="3000">
              <a:solidFill>
                <a:schemeClr val="bg1"/>
              </a:solidFill>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US" sz="3000">
                <a:solidFill>
                  <a:schemeClr val="bg1"/>
                </a:solidFill>
                <a:latin typeface="Times New Roman" panose="02020603050405020304" pitchFamily="18" charset="0"/>
                <a:cs typeface="Times New Roman" panose="02020603050405020304" pitchFamily="18" charset="0"/>
              </a:rPr>
              <a:t>Việc quản lý và tùy chỉnh sâu hệ thống đòi hỏi người dùng phải có kiến thức nhất định về máy chủ và bảo mật.</a:t>
            </a:r>
            <a:endParaRPr lang="en-AU" sz="300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endParaRPr lang="en-AU" sz="300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5827829" y="9639300"/>
            <a:ext cx="2133600" cy="365125"/>
          </a:xfrm>
        </p:spPr>
        <p:txBody>
          <a:bodyPr/>
          <a:lstStyle/>
          <a:p>
            <a:fld id="{B6F15528-21DE-4FAA-801E-634DDDAF4B2B}" type="slidenum">
              <a:rPr lang="en-US" sz="3200" smtClean="0">
                <a:solidFill>
                  <a:schemeClr val="bg1"/>
                </a:solidFill>
              </a:rPr>
              <a:pPr/>
              <a:t>15</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TextBox 2"/>
          <p:cNvSpPr txBox="1"/>
          <p:nvPr/>
        </p:nvSpPr>
        <p:spPr>
          <a:xfrm>
            <a:off x="457200" y="495300"/>
            <a:ext cx="7086600" cy="1631216"/>
          </a:xfrm>
          <a:prstGeom prst="rect">
            <a:avLst/>
          </a:prstGeom>
          <a:noFill/>
        </p:spPr>
        <p:txBody>
          <a:bodyPr wrap="square" rtlCol="0">
            <a:spAutoFit/>
          </a:bodyPr>
          <a:lstStyle/>
          <a:p>
            <a:r>
              <a:rPr lang="en-US" sz="5000" b="1">
                <a:solidFill>
                  <a:schemeClr val="bg1"/>
                </a:solidFill>
                <a:latin typeface="Times New Roman" panose="02020603050405020304" pitchFamily="18" charset="0"/>
                <a:cs typeface="Times New Roman" panose="02020603050405020304" pitchFamily="18" charset="0"/>
              </a:rPr>
              <a:t>Giao diện đăng nhập</a:t>
            </a:r>
            <a:endParaRPr lang="en-AU" sz="5000" b="1">
              <a:solidFill>
                <a:schemeClr val="bg1"/>
              </a:solidFill>
              <a:latin typeface="Times New Roman" panose="02020603050405020304" pitchFamily="18" charset="0"/>
              <a:cs typeface="Times New Roman" panose="02020603050405020304" pitchFamily="18" charset="0"/>
            </a:endParaRPr>
          </a:p>
          <a:p>
            <a:endParaRPr lang="en-AU" sz="5000">
              <a:solidFill>
                <a:schemeClr val="bg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38200" y="1790700"/>
            <a:ext cx="16887825" cy="7124832"/>
          </a:xfrm>
          <a:prstGeom prst="rect">
            <a:avLst/>
          </a:prstGeom>
        </p:spPr>
      </p:pic>
      <p:sp>
        <p:nvSpPr>
          <p:cNvPr id="6" name="TextBox 5"/>
          <p:cNvSpPr txBox="1"/>
          <p:nvPr/>
        </p:nvSpPr>
        <p:spPr>
          <a:xfrm>
            <a:off x="6934200" y="9105900"/>
            <a:ext cx="90678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1: Giao diện đăng nhập</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a:xfrm>
            <a:off x="15773400" y="9659898"/>
            <a:ext cx="2133600" cy="365125"/>
          </a:xfrm>
        </p:spPr>
        <p:txBody>
          <a:bodyPr/>
          <a:lstStyle/>
          <a:p>
            <a:fld id="{B6F15528-21DE-4FAA-801E-634DDDAF4B2B}" type="slidenum">
              <a:rPr lang="en-US" sz="3200" smtClean="0">
                <a:solidFill>
                  <a:schemeClr val="bg1"/>
                </a:solidFill>
              </a:rPr>
              <a:pPr/>
              <a:t>16</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228600" y="342900"/>
            <a:ext cx="73152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đăng ký</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19200" y="1409700"/>
            <a:ext cx="15849600" cy="7509471"/>
          </a:xfrm>
          <a:prstGeom prst="rect">
            <a:avLst/>
          </a:prstGeom>
        </p:spPr>
      </p:pic>
      <p:sp>
        <p:nvSpPr>
          <p:cNvPr id="4" name="TextBox 3"/>
          <p:cNvSpPr txBox="1"/>
          <p:nvPr/>
        </p:nvSpPr>
        <p:spPr>
          <a:xfrm>
            <a:off x="7162800" y="9258300"/>
            <a:ext cx="67056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2: Giao diện đăng ký</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697200" y="9540742"/>
            <a:ext cx="2133600" cy="365125"/>
          </a:xfrm>
        </p:spPr>
        <p:txBody>
          <a:bodyPr/>
          <a:lstStyle/>
          <a:p>
            <a:fld id="{B6F15528-21DE-4FAA-801E-634DDDAF4B2B}" type="slidenum">
              <a:rPr lang="en-US" sz="3200" smtClean="0">
                <a:solidFill>
                  <a:schemeClr val="bg1"/>
                </a:solidFill>
              </a:rPr>
              <a:pPr/>
              <a:t>17</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304800" y="342900"/>
            <a:ext cx="63246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trang chủ</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43000" y="1485900"/>
            <a:ext cx="16492538" cy="7058284"/>
          </a:xfrm>
          <a:prstGeom prst="rect">
            <a:avLst/>
          </a:prstGeom>
        </p:spPr>
      </p:pic>
      <p:sp>
        <p:nvSpPr>
          <p:cNvPr id="5" name="TextBox 4"/>
          <p:cNvSpPr txBox="1"/>
          <p:nvPr/>
        </p:nvSpPr>
        <p:spPr>
          <a:xfrm>
            <a:off x="6858000" y="8825410"/>
            <a:ext cx="67056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3: Giao diện trang chủ</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a:xfrm>
            <a:off x="15925800" y="9639300"/>
            <a:ext cx="2133600" cy="365125"/>
          </a:xfrm>
        </p:spPr>
        <p:txBody>
          <a:bodyPr/>
          <a:lstStyle/>
          <a:p>
            <a:fld id="{B6F15528-21DE-4FAA-801E-634DDDAF4B2B}" type="slidenum">
              <a:rPr lang="en-US" sz="3200" smtClean="0">
                <a:solidFill>
                  <a:schemeClr val="bg1"/>
                </a:solidFill>
              </a:rPr>
              <a:pPr/>
              <a:t>18</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228600" y="342900"/>
            <a:ext cx="76200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sản phẩm</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600200" y="1409700"/>
            <a:ext cx="15697200" cy="7363809"/>
          </a:xfrm>
          <a:prstGeom prst="rect">
            <a:avLst/>
          </a:prstGeom>
        </p:spPr>
      </p:pic>
      <p:sp>
        <p:nvSpPr>
          <p:cNvPr id="4" name="TextBox 3"/>
          <p:cNvSpPr txBox="1"/>
          <p:nvPr/>
        </p:nvSpPr>
        <p:spPr>
          <a:xfrm>
            <a:off x="6858000" y="9009378"/>
            <a:ext cx="68580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4: Giao diện sản phẩm</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773400" y="9563376"/>
            <a:ext cx="2133600" cy="365125"/>
          </a:xfrm>
        </p:spPr>
        <p:txBody>
          <a:bodyPr/>
          <a:lstStyle/>
          <a:p>
            <a:fld id="{B6F15528-21DE-4FAA-801E-634DDDAF4B2B}" type="slidenum">
              <a:rPr lang="en-US" sz="3200" smtClean="0">
                <a:solidFill>
                  <a:schemeClr val="bg1"/>
                </a:solidFill>
              </a:rPr>
              <a:pPr/>
              <a:t>19</a:t>
            </a:fld>
            <a:endParaRPr 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76200" y="190500"/>
            <a:ext cx="70104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giỏ hàng</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24000" y="1333500"/>
            <a:ext cx="15815198" cy="7485185"/>
          </a:xfrm>
          <a:prstGeom prst="rect">
            <a:avLst/>
          </a:prstGeom>
        </p:spPr>
      </p:pic>
      <p:sp>
        <p:nvSpPr>
          <p:cNvPr id="4" name="TextBox 3"/>
          <p:cNvSpPr txBox="1"/>
          <p:nvPr/>
        </p:nvSpPr>
        <p:spPr>
          <a:xfrm>
            <a:off x="7093857" y="9099365"/>
            <a:ext cx="64770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5: giao diện giỏ hàng</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849600" y="9470800"/>
            <a:ext cx="2133600" cy="365125"/>
          </a:xfrm>
        </p:spPr>
        <p:txBody>
          <a:bodyPr/>
          <a:lstStyle/>
          <a:p>
            <a:fld id="{B6F15528-21DE-4FAA-801E-634DDDAF4B2B}" type="slidenum">
              <a:rPr lang="en-US" sz="3200" smtClean="0">
                <a:solidFill>
                  <a:schemeClr val="bg1"/>
                </a:solidFill>
              </a:rPr>
              <a:pPr/>
              <a:t>20</a:t>
            </a:fld>
            <a:endParaRPr lang="en-US"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381000" y="419100"/>
            <a:ext cx="67818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thanh toán</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24000" y="1409700"/>
            <a:ext cx="16002000" cy="7440802"/>
          </a:xfrm>
          <a:prstGeom prst="rect">
            <a:avLst/>
          </a:prstGeom>
        </p:spPr>
      </p:pic>
      <p:sp>
        <p:nvSpPr>
          <p:cNvPr id="4" name="TextBox 3"/>
          <p:cNvSpPr txBox="1"/>
          <p:nvPr/>
        </p:nvSpPr>
        <p:spPr>
          <a:xfrm>
            <a:off x="6781800" y="9105900"/>
            <a:ext cx="60198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6: giao diện thanh toán</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849600" y="9639941"/>
            <a:ext cx="2133600" cy="365125"/>
          </a:xfrm>
        </p:spPr>
        <p:txBody>
          <a:bodyPr/>
          <a:lstStyle/>
          <a:p>
            <a:fld id="{B6F15528-21DE-4FAA-801E-634DDDAF4B2B}" type="slidenum">
              <a:rPr lang="en-US" sz="3200" smtClean="0">
                <a:solidFill>
                  <a:schemeClr val="bg1"/>
                </a:solidFill>
              </a:rPr>
              <a:pPr/>
              <a:t>21</a:t>
            </a:fld>
            <a:endParaRPr lang="en-US"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228600" y="266700"/>
            <a:ext cx="97536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theo dõi đơn hàng</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24000" y="1409700"/>
            <a:ext cx="15859125" cy="7464113"/>
          </a:xfrm>
          <a:prstGeom prst="rect">
            <a:avLst/>
          </a:prstGeom>
        </p:spPr>
      </p:pic>
      <p:sp>
        <p:nvSpPr>
          <p:cNvPr id="4" name="TextBox 3"/>
          <p:cNvSpPr txBox="1"/>
          <p:nvPr/>
        </p:nvSpPr>
        <p:spPr>
          <a:xfrm>
            <a:off x="6138862" y="9156853"/>
            <a:ext cx="66294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7: Giao diện theo dõi đơn hàng</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849600" y="9528288"/>
            <a:ext cx="2133600" cy="365125"/>
          </a:xfrm>
        </p:spPr>
        <p:txBody>
          <a:bodyPr/>
          <a:lstStyle/>
          <a:p>
            <a:fld id="{B6F15528-21DE-4FAA-801E-634DDDAF4B2B}" type="slidenum">
              <a:rPr lang="en-US" sz="3200" smtClean="0">
                <a:solidFill>
                  <a:schemeClr val="bg1"/>
                </a:solidFill>
              </a:rPr>
              <a:pPr/>
              <a:t>22</a:t>
            </a:fld>
            <a:endParaRPr lang="en-US"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304800" y="190500"/>
            <a:ext cx="5715000" cy="861774"/>
          </a:xfrm>
          <a:prstGeom prst="rect">
            <a:avLst/>
          </a:prstGeom>
          <a:noFill/>
        </p:spPr>
        <p:txBody>
          <a:bodyPr wrap="square" rtlCol="0">
            <a:spAutoFit/>
          </a:bodyPr>
          <a:lstStyle/>
          <a:p>
            <a:r>
              <a:rPr lang="en-AU" sz="5000" b="1" smtClean="0">
                <a:solidFill>
                  <a:schemeClr val="bg1"/>
                </a:solidFill>
                <a:latin typeface="Times New Roman" panose="02020603050405020304" pitchFamily="18" charset="0"/>
                <a:cs typeface="Times New Roman" panose="02020603050405020304" pitchFamily="18" charset="0"/>
              </a:rPr>
              <a:t>Giao diện liên hệ</a:t>
            </a:r>
            <a:endParaRPr lang="en-AU" sz="5000" b="1">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371600" y="1257300"/>
            <a:ext cx="15444788" cy="7250766"/>
          </a:xfrm>
          <a:prstGeom prst="rect">
            <a:avLst/>
          </a:prstGeom>
        </p:spPr>
      </p:pic>
      <p:sp>
        <p:nvSpPr>
          <p:cNvPr id="4" name="TextBox 3"/>
          <p:cNvSpPr txBox="1"/>
          <p:nvPr/>
        </p:nvSpPr>
        <p:spPr>
          <a:xfrm>
            <a:off x="7086600" y="8713092"/>
            <a:ext cx="6172200" cy="553998"/>
          </a:xfrm>
          <a:prstGeom prst="rect">
            <a:avLst/>
          </a:prstGeom>
          <a:noFill/>
        </p:spPr>
        <p:txBody>
          <a:bodyPr wrap="square" rtlCol="0">
            <a:spAutoFit/>
          </a:bodyPr>
          <a:lstStyle/>
          <a:p>
            <a:r>
              <a:rPr lang="en-AU" sz="3000" smtClean="0">
                <a:solidFill>
                  <a:schemeClr val="bg1"/>
                </a:solidFill>
                <a:latin typeface="Times New Roman" panose="02020603050405020304" pitchFamily="18" charset="0"/>
                <a:cs typeface="Times New Roman" panose="02020603050405020304" pitchFamily="18" charset="0"/>
              </a:rPr>
              <a:t>Hình 8: Giao diện liên hệ</a:t>
            </a:r>
            <a:endParaRPr lang="en-AU" sz="300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5749588" y="9486900"/>
            <a:ext cx="2133600" cy="365125"/>
          </a:xfrm>
        </p:spPr>
        <p:txBody>
          <a:bodyPr/>
          <a:lstStyle/>
          <a:p>
            <a:fld id="{B6F15528-21DE-4FAA-801E-634DDDAF4B2B}" type="slidenum">
              <a:rPr lang="en-US" sz="3200" smtClean="0">
                <a:solidFill>
                  <a:schemeClr val="bg1"/>
                </a:solidFill>
              </a:rPr>
              <a:pPr/>
              <a:t>23</a:t>
            </a:fld>
            <a:endParaRPr lang="en-US"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D1C54">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p:cNvSpPr txBox="1"/>
          <p:nvPr/>
        </p:nvSpPr>
        <p:spPr>
          <a:xfrm>
            <a:off x="457200" y="2705100"/>
            <a:ext cx="17602200" cy="3130409"/>
          </a:xfrm>
          <a:prstGeom prst="rect">
            <a:avLst/>
          </a:prstGeom>
          <a:noFill/>
        </p:spPr>
        <p:txBody>
          <a:bodyPr wrap="square" rtlCol="0">
            <a:spAutoFit/>
          </a:bodyPr>
          <a:lstStyle/>
          <a:p>
            <a:pPr algn="ctr">
              <a:lnSpc>
                <a:spcPct val="150000"/>
              </a:lnSpc>
            </a:pPr>
            <a:r>
              <a:rPr lang="en-AU" sz="7000" b="1" smtClean="0">
                <a:solidFill>
                  <a:schemeClr val="bg1"/>
                </a:solidFill>
                <a:latin typeface="Times New Roman" panose="02020603050405020304" pitchFamily="18" charset="0"/>
                <a:cs typeface="Times New Roman" panose="02020603050405020304" pitchFamily="18" charset="0"/>
              </a:rPr>
              <a:t>CÁM ƠN THẦY CÔ ĐÃ DÀNH THỜI GIAN LẮNG NGHE BÀI THUYẾT TRÌNH</a:t>
            </a:r>
            <a:endParaRPr lang="en-AU" sz="7000" b="1">
              <a:solidFill>
                <a:schemeClr val="bg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7297400" y="9486900"/>
            <a:ext cx="1219200" cy="584775"/>
          </a:xfrm>
          <a:prstGeom prst="rect">
            <a:avLst/>
          </a:prstGeom>
          <a:noFill/>
        </p:spPr>
        <p:txBody>
          <a:bodyPr wrap="square" rtlCol="0">
            <a:spAutoFit/>
          </a:bodyPr>
          <a:lstStyle/>
          <a:p>
            <a:r>
              <a:rPr lang="en-AU" sz="3200" smtClean="0">
                <a:solidFill>
                  <a:schemeClr val="bg1"/>
                </a:solidFill>
              </a:rPr>
              <a:t>24</a:t>
            </a:r>
            <a:endParaRPr lang="en-AU" sz="32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2448</Words>
  <Application>Microsoft Office PowerPoint</Application>
  <PresentationFormat>Custom</PresentationFormat>
  <Paragraphs>120</Paragraphs>
  <Slides>24</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Times New Roman Bold</vt:lpstr>
      <vt:lpstr>Calibri</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CRC</cp:lastModifiedBy>
  <cp:revision>13</cp:revision>
  <dcterms:created xsi:type="dcterms:W3CDTF">2006-08-16T00:00:00Z</dcterms:created>
  <dcterms:modified xsi:type="dcterms:W3CDTF">2025-12-25T05:39:16Z</dcterms:modified>
  <dc:identifier>DAG8aUWR4I8</dc:identifier>
</cp:coreProperties>
</file>